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229d7a69294cf8" /><Relationship Type="http://schemas.openxmlformats.org/officeDocument/2006/relationships/extended-properties" Target="/docProps/app.xml" Id="R0330932a82ec4a02" /><Relationship Type="http://schemas.openxmlformats.org/officeDocument/2006/relationships/officeDocument" Target="/ppt/presentation.xml" Id="R9376869e56d646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eafa74b13e450f"/>
  </p:sldMasterIdLst>
  <p:notesMasterIdLst>
    <p:notesMasterId xmlns:r="http://schemas.openxmlformats.org/officeDocument/2006/relationships" r:id="Rad4a3221e6954894"/>
  </p:notesMasterIdLst>
  <p:sldIdLst>
    <p:sldId xmlns:r="http://schemas.openxmlformats.org/officeDocument/2006/relationships" id="256" r:id="R87ee53192e0446f9"/>
    <p:sldId xmlns:r="http://schemas.openxmlformats.org/officeDocument/2006/relationships" id="257" r:id="Rfc3f3eaadd7f4252"/>
    <p:sldId xmlns:r="http://schemas.openxmlformats.org/officeDocument/2006/relationships" id="258" r:id="Rc7dee68061694744"/>
    <p:sldId xmlns:r="http://schemas.openxmlformats.org/officeDocument/2006/relationships" id="259" r:id="R350c2dfc2fda4c81"/>
    <p:sldId xmlns:r="http://schemas.openxmlformats.org/officeDocument/2006/relationships" id="260" r:id="Rdf2db58d6d55435e"/>
    <p:sldId xmlns:r="http://schemas.openxmlformats.org/officeDocument/2006/relationships" id="261" r:id="R1e1d0e3daeaf47b3"/>
    <p:sldId xmlns:r="http://schemas.openxmlformats.org/officeDocument/2006/relationships" id="262" r:id="R0af35de3c8094ccf"/>
    <p:sldId xmlns:r="http://schemas.openxmlformats.org/officeDocument/2006/relationships" id="263" r:id="Re3390897878d400c"/>
    <p:sldId xmlns:r="http://schemas.openxmlformats.org/officeDocument/2006/relationships" id="264" r:id="Ra2aed09cddcc4ced"/>
    <p:sldId xmlns:r="http://schemas.openxmlformats.org/officeDocument/2006/relationships" id="265" r:id="R26383bc32ce149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0931669b024647" /><Relationship Type="http://schemas.openxmlformats.org/officeDocument/2006/relationships/slideMaster" Target="/ppt/slideMasters/slideMaster1.xml" Id="R01eafa74b13e450f" /><Relationship Type="http://schemas.openxmlformats.org/officeDocument/2006/relationships/notesMaster" Target="/ppt/notesMasters/notesMaster1.xml" Id="Rad4a3221e6954894" /><Relationship Type="http://schemas.openxmlformats.org/officeDocument/2006/relationships/presProps" Target="/ppt/presProps.xml" Id="R095eb6c3f2e447d0" /><Relationship Type="http://schemas.openxmlformats.org/officeDocument/2006/relationships/tableStyles" Target="/ppt/tableStyles.xml" Id="R42f938d6f703477b" /><Relationship Type="http://schemas.openxmlformats.org/officeDocument/2006/relationships/slide" Target="/ppt/slides/slide1.xml" Id="R87ee53192e0446f9" /><Relationship Type="http://schemas.openxmlformats.org/officeDocument/2006/relationships/slide" Target="/ppt/slides/slide2.xml" Id="Rfc3f3eaadd7f4252" /><Relationship Type="http://schemas.openxmlformats.org/officeDocument/2006/relationships/slide" Target="/ppt/slides/slide3.xml" Id="Rc7dee68061694744" /><Relationship Type="http://schemas.openxmlformats.org/officeDocument/2006/relationships/slide" Target="/ppt/slides/slide4.xml" Id="R350c2dfc2fda4c81" /><Relationship Type="http://schemas.openxmlformats.org/officeDocument/2006/relationships/slide" Target="/ppt/slides/slide5.xml" Id="Rdf2db58d6d55435e" /><Relationship Type="http://schemas.openxmlformats.org/officeDocument/2006/relationships/slide" Target="/ppt/slides/slide6.xml" Id="R1e1d0e3daeaf47b3" /><Relationship Type="http://schemas.openxmlformats.org/officeDocument/2006/relationships/slide" Target="/ppt/slides/slide7.xml" Id="R0af35de3c8094ccf" /><Relationship Type="http://schemas.openxmlformats.org/officeDocument/2006/relationships/slide" Target="/ppt/slides/slide8.xml" Id="Re3390897878d400c" /><Relationship Type="http://schemas.openxmlformats.org/officeDocument/2006/relationships/slide" Target="/ppt/slides/slide9.xml" Id="Ra2aed09cddcc4ced" /><Relationship Type="http://schemas.openxmlformats.org/officeDocument/2006/relationships/slide" Target="/ppt/slides/slide10.xml" Id="R26383bc32ce149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207d06d92640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7b3e44fcb54ce7" /><Relationship Type="http://schemas.openxmlformats.org/officeDocument/2006/relationships/notesMaster" Target="/ppt/notesMasters/notesMaster1.xml" Id="R78fd4e1e9dad48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f1bce61e8749d7" /><Relationship Type="http://schemas.openxmlformats.org/officeDocument/2006/relationships/notesMaster" Target="/ppt/notesMasters/notesMaster1.xml" Id="R4b759c300e9944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aaa15d91a347cc" /><Relationship Type="http://schemas.openxmlformats.org/officeDocument/2006/relationships/notesMaster" Target="/ppt/notesMasters/notesMaster1.xml" Id="R36dc7becbfd84a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953dae654840d6" /><Relationship Type="http://schemas.openxmlformats.org/officeDocument/2006/relationships/notesMaster" Target="/ppt/notesMasters/notesMaster1.xml" Id="R7d8cc53ff4d840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dda78537a94f4d" /><Relationship Type="http://schemas.openxmlformats.org/officeDocument/2006/relationships/notesMaster" Target="/ppt/notesMasters/notesMaster1.xml" Id="R0d33c7de54014c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b649ccaf474778" /><Relationship Type="http://schemas.openxmlformats.org/officeDocument/2006/relationships/notesMaster" Target="/ppt/notesMasters/notesMaster1.xml" Id="R7195a6aedce841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681c14cf1840e3" /><Relationship Type="http://schemas.openxmlformats.org/officeDocument/2006/relationships/notesMaster" Target="/ppt/notesMasters/notesMaster1.xml" Id="Rd8f7475ce6f74f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ef6c349a73441f" /><Relationship Type="http://schemas.openxmlformats.org/officeDocument/2006/relationships/notesMaster" Target="/ppt/notesMasters/notesMaster1.xml" Id="R1f971ff2855d4a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a8a59cfc3641f8" /><Relationship Type="http://schemas.openxmlformats.org/officeDocument/2006/relationships/notesMaster" Target="/ppt/notesMasters/notesMaster1.xml" Id="R32e4a61b80de40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e94fa3fe9b4bd4" /><Relationship Type="http://schemas.openxmlformats.org/officeDocument/2006/relationships/notesMaster" Target="/ppt/notesMasters/notesMaster1.xml" Id="R951b94e3320e4d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课程展示。游戏为单人字符第一人称探索与战斗。图来自 production character-cell export，不是原生终端截图。来源：docs/production/evidence/chapter01_creative_polish/optimization_v2_20260915/lift_front.png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来源：data/scenes/recovery_scene.json，src/app/tower_campaign_runtime.cpp。目录的41层是设定，不是41个可玩关卡。讲解约30秒。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来源：composition_root.cpp，src/systemic/systemic.cpp，src/app/perception_feed.h。框与箭头是可编辑机制示意。演示时使用已经彩排的真实摄像头或非致命路线，不手改事实。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来源：include/writeover/core/engine.h；composition_root.cpp RegisterModule 调用。Engine 不拥有具体模块，组装点控制寿命。固定模拟顺序 Input、Player、World、AI、Narrative，Render 单独呈现。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来源：src/render/raycaster.cpp CastColumnRay，character_renderer.cpp。角点容差内两轴同时推进，高度边界生成遮挡段，整墙终止。每列遍历所穿过的格子，输出仍为CharCell。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来源：src/core/save.cpp，src/common/io.cpp，src/app/player_save.h，composition_root.cpp staged load/rollback。外层schema1，生产七节。主槽位和resume分别写入，不是跨文件事务。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来源：presentation_text.h，text_layout.h，player_product.h，product_keys.h。截图来源：docs/course/assets/case-file-zh.png，真实生产导出，非原生终端验收。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来源：scripts/run_qa.ps1，.github/workflows/ci.yml，docs/engineering/TEST_STRATEGY.md。本页解释覆盖，不把待完成的最终CI声明为PASS。当前已执行本地245项单元，正式结果以最终测试报告为准。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来源：CMakePresets.json，cmake/toolchains/aarch64-linux-gnu.cmake，docs/course/DEMO_5_MINUTES.md。Linux ARM64 为交叉链接和ELF检查，没有鲲鹏真机运行证据。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来源：课程大纲第16至18页，docs/course/MEMBER_RESPONSIBILITIES.md。姓名学号和实际职责必须由本人确认。代码50分、功能50分由对方小组填写，不用自动化结果代填。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14b0d309ad4d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ce010431b947be" /><Relationship Type="http://schemas.openxmlformats.org/officeDocument/2006/relationships/slideLayout" Target="/ppt/slideLayouts/slideLayout1.xml" Id="R010e94364bfd48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0e94364bfd48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4ecbdbdfb4019" /><Relationship Type="http://schemas.openxmlformats.org/officeDocument/2006/relationships/image" Target="/ppt/media/image.png" Id="Rf14109db3dd14ef1" /><Relationship Type="http://schemas.openxmlformats.org/officeDocument/2006/relationships/notesSlide" Target="/ppt/notesSlides/notesSlide1.xml" Id="Rbaab1af058a84d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c9d09d2fc4dc4" /><Relationship Type="http://schemas.openxmlformats.org/officeDocument/2006/relationships/notesSlide" Target="/ppt/notesSlides/notesSlide2.xml" Id="Rad90e613187349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ea2d03c6d4089" /><Relationship Type="http://schemas.openxmlformats.org/officeDocument/2006/relationships/notesSlide" Target="/ppt/notesSlides/notesSlide3.xml" Id="R7ee9254b87ce43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842a5cffe4c39" /><Relationship Type="http://schemas.openxmlformats.org/officeDocument/2006/relationships/notesSlide" Target="/ppt/notesSlides/notesSlide4.xml" Id="Rff92fe42460443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035c72e20454b" /><Relationship Type="http://schemas.openxmlformats.org/officeDocument/2006/relationships/notesSlide" Target="/ppt/notesSlides/notesSlide5.xml" Id="R23d307136e184e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5e28b703d451e" /><Relationship Type="http://schemas.openxmlformats.org/officeDocument/2006/relationships/notesSlide" Target="/ppt/notesSlides/notesSlide6.xml" Id="R57c38133c73344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55344e337448c" /><Relationship Type="http://schemas.openxmlformats.org/officeDocument/2006/relationships/image" Target="/ppt/media/image2.png" Id="Rf357a2833c4443a5" /><Relationship Type="http://schemas.openxmlformats.org/officeDocument/2006/relationships/notesSlide" Target="/ppt/notesSlides/notesSlide7.xml" Id="R1b325360678347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316f9197f4aff" /><Relationship Type="http://schemas.openxmlformats.org/officeDocument/2006/relationships/notesSlide" Target="/ppt/notesSlides/notesSlide8.xml" Id="R93b17c659cef4b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73d4eb9014b99" /><Relationship Type="http://schemas.openxmlformats.org/officeDocument/2006/relationships/notesSlide" Target="/ppt/notesSlides/notesSlide9.xml" Id="R5ee91dc32bec46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ee5eddac9405d" /><Relationship Type="http://schemas.openxmlformats.org/officeDocument/2006/relationships/notesSlide" Target="/ppt/notesSlides/notesSlide10.xml" Id="Ra1695cdb40284c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16E59-884D-4949-94F4-C7F123A3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WRITEOVER-07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23DD1-A58F-462F-9D90-ECC98E42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ADCB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ADCBC3"/>
                </a:solidFill>
                <a:latin typeface="Microsoft YaHei"/>
                <a:ea typeface="Microsoft YaHei"/>
                <a:cs typeface="Microsoft YaHei"/>
              </a:rPr>
              <a:t>字符构成的第一人称世界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109db3dd14ef1"/>
          <a:stretch xmlns:a="http://schemas.openxmlformats.org/drawingml/2006/main"/>
        </p:blipFill>
        <p:spPr>
          <a:xfrm xmlns:a="http://schemas.openxmlformats.org/drawingml/2006/main">
            <a:off x="2769358" y="2095500"/>
            <a:ext cx="6653284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0DA6E-5206-4B90-84C9-E8840823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7C4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7C4C9"/>
                </a:solidFill>
                <a:latin typeface="Microsoft YaHei"/>
                <a:ea typeface="Microsoft YaHei"/>
                <a:cs typeface="Microsoft YaHei"/>
              </a:rPr>
              <a:t>C++17 单机课程设计</a:t>
            </a:r>
          </a:p>
        </p:txBody>
      </p:sp>
    </p:spTree>
    <p:extLst>
      <p:ext uri="{BB962C8B-B14F-4D97-AF65-F5344CB8AC3E}">
        <p14:creationId xmlns:p14="http://schemas.microsoft.com/office/powerpoint/2010/main" val="14656995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5659C-D33A-4714-8870-E3743550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调查与通行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7F246-4C7A-418A-9108-5DDFE63D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玩家在 B1 醒来，追查记录与权限。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6235F-541F-460B-986A-4B1736AC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19 个可玩房间，流程抵达屋顶。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35604-E0EE-4AFC-A52A-93FC6725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调查、合作与武力留下不同后果。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9DA56-691A-4C44-A875-8896CE0B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三种结局由实际取得的事实决定。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101961-9F65-400E-96E4-FC048105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7C4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7C4C9"/>
                </a:solidFill>
                <a:latin typeface="Microsoft YaHei"/>
                <a:ea typeface="Microsoft YaHei"/>
                <a:cs typeface="Microsoft YaHei"/>
              </a:rPr>
              <a:t>设施目录中的 41 层属于世界设定。</a:t>
            </a:r>
          </a:p>
        </p:txBody>
      </p:sp>
    </p:spTree>
    <p:extLst>
      <p:ext uri="{BB962C8B-B14F-4D97-AF65-F5344CB8AC3E}">
        <p14:creationId xmlns:p14="http://schemas.microsoft.com/office/powerpoint/2010/main" val="6682313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FACFE-DCFB-44A6-8E22-CCE11C39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一条交互怎样留下后果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1B51E-B959-4E37-B4BD-9B8F4271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32"/>
          </a:solidFill>
          <a:ln xmlns:a="http://schemas.openxmlformats.org/drawingml/2006/main" w="19050">
            <a:solidFill>
              <a:srgbClr val="ADCBC3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玩家操作设备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272D4-7BAA-47CF-8C60-12A824C0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133600"/>
            <a:ext cx="6096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DCBC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E9B59-B79F-4B81-A02A-F7A3CDCF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32"/>
          </a:solidFill>
          <a:ln xmlns:a="http://schemas.openxmlformats.org/drawingml/2006/main" w="19050">
            <a:solidFill>
              <a:srgbClr val="ADCBC3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世界事实或系统事件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EA76F-8919-4BF7-9611-EAC0116E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133600"/>
            <a:ext cx="6096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DCBC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560F0-93B6-4CAE-B2EF-A3171E62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0975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32"/>
          </a:solidFill>
          <a:ln xmlns:a="http://schemas.openxmlformats.org/drawingml/2006/main" w="19050">
            <a:solidFill>
              <a:srgbClr val="ADCBC3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后续门禁与 NPC 读取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6D3C8-8185-4DC8-883D-7BD3ECCE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字幕和感知消息解释已发生的事。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C0362-6C99-44A9-82FA-678C61A7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关闭消息不会取消摄像头、身体或警戒后果。</a:t>
            </a:r>
          </a:p>
        </p:txBody>
      </p:sp>
    </p:spTree>
    <p:extLst>
      <p:ext uri="{BB962C8B-B14F-4D97-AF65-F5344CB8AC3E}">
        <p14:creationId xmlns:p14="http://schemas.microsoft.com/office/powerpoint/2010/main" val="6023156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012B5-7B5C-4EE3-8048-69127F34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引擎调度与应用组装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B27D7-9074-4C9F-A98A-9A998FDF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33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32"/>
          </a:solidFill>
          <a:ln xmlns:a="http://schemas.openxmlformats.org/drawingml/2006/main" w="19050">
            <a:solidFill>
              <a:srgbClr val="ADCBC3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RunComposition</a:t>
            </a:r>
          </a:p>
          <a:p xmlns:a="http://schemas.openxmlformats.org/drawingml/2006/main">
            <a:pPr algn="ctr">
              <a:defRPr sz="210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创建并连接模块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25C39-D650-48D5-9784-1CF7F7D0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33600"/>
            <a:ext cx="5715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DCBC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FC6CA-B5A4-40AD-A51E-ACF214D3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323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32"/>
          </a:solidFill>
          <a:ln xmlns:a="http://schemas.openxmlformats.org/drawingml/2006/main" w="19050">
            <a:solidFill>
              <a:srgbClr val="ADCBC3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Engine</a:t>
            </a:r>
          </a:p>
          <a:p xmlns:a="http://schemas.openxmlformats.org/drawingml/2006/main">
            <a:pPr algn="ctr">
              <a:defRPr sz="210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固定 120 Hz 模拟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685CF-C270-4787-8302-FCD3DD72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33600"/>
            <a:ext cx="5715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DCBC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C7CDE-BA66-4FA7-84F2-0AFA3448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1450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32"/>
          </a:solidFill>
          <a:ln xmlns:a="http://schemas.openxmlformats.org/drawingml/2006/main" w="19050">
            <a:solidFill>
              <a:srgbClr val="ADCBC3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IEngineModule</a:t>
            </a:r>
          </a:p>
          <a:p xmlns:a="http://schemas.openxmlformats.org/drawingml/2006/main">
            <a:pPr algn="ctr">
              <a:defRPr sz="210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抽象更新接口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07B65-9C76-4B41-B93E-8191F369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ADCB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ADCBC3"/>
                </a:solidFill>
                <a:latin typeface="Microsoft YaHei"/>
                <a:ea typeface="Microsoft YaHei"/>
                <a:cs typeface="Microsoft YaHei"/>
              </a:rPr>
              <a:t>Input   Player   World   AI   Narrative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4A374-D351-4EB7-8007-7C5995F8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RenderFrame 独立呈现，不用显示帧率推进剧情。</a:t>
            </a:r>
          </a:p>
        </p:txBody>
      </p:sp>
    </p:spTree>
    <p:extLst>
      <p:ext uri="{BB962C8B-B14F-4D97-AF65-F5344CB8AC3E}">
        <p14:creationId xmlns:p14="http://schemas.microsoft.com/office/powerpoint/2010/main" val="14286027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3C369-ED5D-43AF-81ED-A439EA94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DDA 射线与字符投影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9FF4E-7EC6-4FA1-95FF-7FFFE3B1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32"/>
          </a:solidFill>
          <a:ln xmlns:a="http://schemas.openxmlformats.org/drawingml/2006/main" w="19050">
            <a:solidFill>
              <a:srgbClr val="ADCBC3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下一条网格边界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0B5FF-A8D5-464C-ABD0-9C0495B0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133600"/>
            <a:ext cx="6096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DCBC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A01C90-7AD3-49F0-8C90-284BC9F6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32"/>
          </a:solidFill>
          <a:ln xmlns:a="http://schemas.openxmlformats.org/drawingml/2006/main" w="19050">
            <a:solidFill>
              <a:srgbClr val="ADCBC3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比较两侧高度与墙体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5F9FA-61E6-4B89-A620-387C6DAE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133600"/>
            <a:ext cx="6096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DCBC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D9CE4-8F93-48F5-A080-14B62432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0975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32"/>
          </a:solidFill>
          <a:ln xmlns:a="http://schemas.openxmlformats.org/drawingml/2006/main" w="19050">
            <a:solidFill>
              <a:srgbClr val="ADCBC3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遮挡段与投影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DD67F-8259-497D-94DE-6FA0FCFC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墙体决定空间，手工字符资产表现人物和武器。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38BBB-A9E3-440D-AC3C-0DF7F048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7C4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7C4C9"/>
                </a:solidFill>
                <a:latin typeface="Microsoft YaHei"/>
                <a:ea typeface="Microsoft YaHei"/>
                <a:cs typeface="Microsoft YaHei"/>
              </a:rPr>
              <a:t>人物朝向由观察关系选取，侧面有独立姿态。</a:t>
            </a:r>
          </a:p>
        </p:txBody>
      </p:sp>
    </p:spTree>
    <p:extLst>
      <p:ext uri="{BB962C8B-B14F-4D97-AF65-F5344CB8AC3E}">
        <p14:creationId xmlns:p14="http://schemas.microsoft.com/office/powerpoint/2010/main" val="6299969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F10BD2-4990-40CF-9CA3-131A2FBA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存档失败时保留旧状态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963CD-DD38-4C21-9F43-DDDFB34F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32"/>
          </a:solidFill>
          <a:ln xmlns:a="http://schemas.openxmlformats.org/drawingml/2006/main" w="19050">
            <a:solidFill>
              <a:srgbClr val="ADCBC3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解析与校验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F0F83-B4FF-46CA-BC7E-964CB745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38350"/>
            <a:ext cx="6096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DCBC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10D1A-37A9-4CC7-BC95-D624AC03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1450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32"/>
          </a:solidFill>
          <a:ln xmlns:a="http://schemas.openxmlformats.org/drawingml/2006/main" w="19050">
            <a:solidFill>
              <a:srgbClr val="ADCBC3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临时状态预检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A843F-4395-433E-B592-DFED0A79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038350"/>
            <a:ext cx="6096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DCBC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63139-56EC-4F8B-AC15-D629A405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1450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32"/>
          </a:solidFill>
          <a:ln xmlns:a="http://schemas.openxmlformats.org/drawingml/2006/main" w="19050">
            <a:solidFill>
              <a:srgbClr val="ADCBC3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提交或回滚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3E6EA-C3EB-44FF-9974-3C185D73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保存先写临时文件，再原子替换目标。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D42C3-B563-4449-93CE-51D2528A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不预先删除旧存档，不把半截负载当作旧格式。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DB0FB-1189-4396-80C4-FCBD2563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7C4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7C4C9"/>
                </a:solidFill>
                <a:latin typeface="Microsoft YaHei"/>
                <a:ea typeface="Microsoft YaHei"/>
                <a:cs typeface="Microsoft YaHei"/>
              </a:rPr>
              <a:t>成功读取后清除未来的暂态提示。</a:t>
            </a:r>
          </a:p>
        </p:txBody>
      </p:sp>
    </p:spTree>
    <p:extLst>
      <p:ext uri="{BB962C8B-B14F-4D97-AF65-F5344CB8AC3E}">
        <p14:creationId xmlns:p14="http://schemas.microsoft.com/office/powerpoint/2010/main" val="8852320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C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6CB9B-9FF8-43FC-A98C-EE1A4444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中英文与可恢复的操作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57a2833c4443a5"/>
          <a:stretch xmlns:a="http://schemas.openxmlformats.org/drawingml/2006/main"/>
        </p:blipFill>
        <p:spPr>
          <a:xfrm xmlns:a="http://schemas.openxmlformats.org/drawingml/2006/main">
            <a:off x="5429250" y="1476375"/>
            <a:ext cx="6096000" cy="3810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9FE014-E622-4FF4-BA25-B5D0064D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同一进度切换语言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7A74E-1766-4EC2-89EF-61B7BE40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中文按显示列排版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BB9E2-0E17-4E66-8494-F5FD3BB6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改键需检查与确认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82C96-BECC-43F2-9962-DB3B86EB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窗口过小暂停游玩</a:t>
            </a:r>
          </a:p>
        </p:txBody>
      </p:sp>
    </p:spTree>
    <p:extLst>
      <p:ext uri="{BB962C8B-B14F-4D97-AF65-F5344CB8AC3E}">
        <p14:creationId xmlns:p14="http://schemas.microsoft.com/office/powerpoint/2010/main" val="13628535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C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3F2C7-C1B5-47B4-82C6-B2D90444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验证的分工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E79BC-B0C3-44DA-8ACD-CA0E3294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ADCB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ADCBC3"/>
                </a:solidFill>
                <a:latin typeface="Microsoft YaHei"/>
                <a:ea typeface="Microsoft YaHei"/>
                <a:cs typeface="Microsoft YaHei"/>
              </a:rPr>
              <a:t>FAST_REQUIRED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296691-4AFF-4A72-B85B-22F1FF3C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主线、产品、存档、包和原负载性能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7D3EB-6FF6-46DF-A3AE-61ADACE5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ADCB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ADCBC3"/>
                </a:solidFill>
                <a:latin typeface="Microsoft YaHei"/>
                <a:ea typeface="Microsoft YaHei"/>
                <a:cs typeface="Microsoft YaHei"/>
              </a:rPr>
              <a:t>EXTENDED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2A1DB-E09C-407C-ADAB-F60BDA19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恢复路线、场景矩阵和全部结局组合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075374-01C6-485F-8BC5-8DD4E2A7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7C4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7C4C9"/>
                </a:solidFill>
                <a:latin typeface="Microsoft YaHei"/>
                <a:ea typeface="Microsoft YaHei"/>
                <a:cs typeface="Microsoft YaHei"/>
              </a:rPr>
              <a:t>终端观感、音频与首次试玩由真人填写。</a:t>
            </a:r>
          </a:p>
        </p:txBody>
      </p:sp>
    </p:spTree>
    <p:extLst>
      <p:ext uri="{BB962C8B-B14F-4D97-AF65-F5344CB8AC3E}">
        <p14:creationId xmlns:p14="http://schemas.microsoft.com/office/powerpoint/2010/main" val="3447346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C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EE512-395F-40FD-A869-6119DA36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跨平台与课堂演示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ACFB2-5C72-4849-AE8C-5DD300B3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Windows 负责完整产品回归。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95BB9-A75B-45F4-9A8D-F97EE573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Linux 与 macOS 分别检查原生构建和运行。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41C6C-4FBE-4B38-A1E2-545D8A0F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ARM64 检查交叉链接与 ELF 架构。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9182D-2AC5-47B4-9608-D7C870F5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ADCB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ADCBC3"/>
                </a:solidFill>
                <a:latin typeface="Microsoft YaHei"/>
                <a:ea typeface="Microsoft YaHei"/>
                <a:cs typeface="Microsoft YaHei"/>
              </a:rPr>
              <a:t>五分钟演示使用准备好的进度展示上层与结局。</a:t>
            </a:r>
          </a:p>
        </p:txBody>
      </p:sp>
    </p:spTree>
    <p:extLst>
      <p:ext uri="{BB962C8B-B14F-4D97-AF65-F5344CB8AC3E}">
        <p14:creationId xmlns:p14="http://schemas.microsoft.com/office/powerpoint/2010/main" val="8827176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C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E2869-DAD3-4588-9806-A91D8A80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成员分工与交换测试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7ADC7-3B53-4191-92F1-1BE8E25F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姓名、学号与实际职责待成员确认。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87019-E1C7-46BF-8880-613EBDF1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代码质量 50 分，功能体验 50 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88A39-F790-4387-9479-E6E09C12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8EEF0"/>
                </a:solidFill>
                <a:latin typeface="Microsoft YaHei"/>
                <a:ea typeface="Microsoft YaHei"/>
                <a:cs typeface="Microsoft YaHei"/>
              </a:rPr>
              <a:t>每人准备解释一个模块、一条后果链和一次失败恢复。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11D05-F4FB-4730-A58D-5215A012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7C4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7C4C9"/>
                </a:solidFill>
                <a:latin typeface="Microsoft YaHei"/>
                <a:ea typeface="Microsoft YaHei"/>
                <a:cs typeface="Microsoft YaHei"/>
              </a:rPr>
              <a:t>真人评分和试玩记录不能由自动测试代填。</a:t>
            </a:r>
          </a:p>
        </p:txBody>
      </p:sp>
    </p:spTree>
    <p:extLst>
      <p:ext uri="{BB962C8B-B14F-4D97-AF65-F5344CB8AC3E}">
        <p14:creationId xmlns:p14="http://schemas.microsoft.com/office/powerpoint/2010/main" val="2748450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2026-09-14T20:27:59.0300000Z</dcterms:created>
  <dcterms:modified xsi:type="dcterms:W3CDTF">2026-09-14T20:27:59.0300000Z</dcterms:modified>
</coreProperties>
</file>